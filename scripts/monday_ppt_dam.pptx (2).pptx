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Arimo Bold" panose="020B0604020202020204" charset="0"/>
      <p:regular r:id="rId10"/>
    </p:embeddedFont>
    <p:embeddedFont>
      <p:font typeface="Calibri (MS)" panose="020B0604020202020204" charset="0"/>
      <p:regular r:id="rId11"/>
    </p:embeddedFont>
    <p:embeddedFont>
      <p:font typeface="Garamond Bold" panose="02020804030307010803" pitchFamily="18" charset="0"/>
      <p:regular r:id="rId12"/>
      <p:bold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gupubs.onlinelibrary.wiley.com/doi/full/10.1029/2023WR035399?utm_source=chatgpt.com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doi.org/10.56578/jche020401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nk.springer.com/article/10.1007/s13201-024-02253-9?utm_source=chatgpt.com" TargetMode="External"/><Relationship Id="rId5" Type="http://schemas.openxmlformats.org/officeDocument/2006/relationships/hyperlink" Target="https://agupubs.onlinelibrary.wiley.com/doi/10.1029/2025GL120832?utm_source=chatgpt.com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267495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388187" y="-280054"/>
            <a:ext cx="15544800" cy="3114675"/>
            <a:chOff x="0" y="0"/>
            <a:chExt cx="20726400" cy="4152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06355" y="1612897"/>
            <a:ext cx="12107868" cy="727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endParaRPr dirty="0"/>
          </a:p>
          <a:p>
            <a:pPr marL="674563" lvl="1" indent="-337281" algn="just">
              <a:lnSpc>
                <a:spcPts val="8945"/>
              </a:lnSpc>
              <a:buFont typeface="Arial"/>
              <a:buChar char="•"/>
            </a:pPr>
            <a:r>
              <a:rPr lang="en-US" sz="372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 </a:t>
            </a:r>
            <a:r>
              <a:rPr lang="en-US" sz="372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26161</a:t>
            </a:r>
          </a:p>
          <a:p>
            <a:pPr marL="674563" lvl="1" indent="-337281" algn="just">
              <a:lnSpc>
                <a:spcPts val="4472"/>
              </a:lnSpc>
              <a:buFont typeface="Arial"/>
              <a:buChar char="•"/>
            </a:pPr>
            <a:r>
              <a:rPr lang="en-US" sz="372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 </a:t>
            </a:r>
            <a:r>
              <a:rPr lang="en-US" sz="372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Dam Break Inundation Modelling Using Hydrodynamic Modelling of any River</a:t>
            </a:r>
          </a:p>
          <a:p>
            <a:pPr marL="674563" lvl="1" indent="-337281" algn="just">
              <a:lnSpc>
                <a:spcPts val="4472"/>
              </a:lnSpc>
            </a:pPr>
            <a:endParaRPr lang="en-US" sz="372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4563" lvl="1" indent="-337281" algn="just">
              <a:lnSpc>
                <a:spcPts val="4472"/>
              </a:lnSpc>
              <a:buFont typeface="Arial"/>
              <a:buChar char="•"/>
            </a:pPr>
            <a:r>
              <a:rPr lang="en-US" sz="372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372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Disaster Management</a:t>
            </a:r>
          </a:p>
          <a:p>
            <a:pPr marL="674563" lvl="1" indent="-337281" algn="just">
              <a:lnSpc>
                <a:spcPts val="8945"/>
              </a:lnSpc>
              <a:buFont typeface="Arial"/>
              <a:buChar char="•"/>
            </a:pPr>
            <a:r>
              <a:rPr lang="en-US" sz="372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</a:t>
            </a:r>
            <a:r>
              <a:rPr lang="en-US" sz="372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marL="674563" lvl="1" indent="-337281" algn="just">
              <a:lnSpc>
                <a:spcPts val="8945"/>
              </a:lnSpc>
              <a:buFont typeface="Arial"/>
              <a:buChar char="•"/>
            </a:pPr>
            <a:r>
              <a:rPr lang="en-US" sz="372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ID- </a:t>
            </a:r>
            <a:r>
              <a:rPr lang="en-US" sz="372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166019</a:t>
            </a:r>
          </a:p>
          <a:p>
            <a:pPr marL="674563" lvl="1" indent="-337281" algn="just">
              <a:lnSpc>
                <a:spcPts val="8945"/>
              </a:lnSpc>
              <a:buFont typeface="Arial"/>
              <a:buChar char="•"/>
            </a:pPr>
            <a:r>
              <a:rPr lang="en-US" sz="372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372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InVictus_165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InVictus_165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274282"/>
            <a:ext cx="2050666" cy="1249101"/>
            <a:chOff x="0" y="0"/>
            <a:chExt cx="2734221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734183" cy="1665481"/>
            </a:xfrm>
            <a:custGeom>
              <a:avLst/>
              <a:gdLst/>
              <a:ahLst/>
              <a:cxnLst/>
              <a:rect l="l" t="t" r="r" b="b"/>
              <a:pathLst>
                <a:path w="2734183" h="1665481">
                  <a:moveTo>
                    <a:pt x="0" y="832740"/>
                  </a:moveTo>
                  <a:cubicBezTo>
                    <a:pt x="0" y="372873"/>
                    <a:pt x="612013" y="0"/>
                    <a:pt x="1367155" y="0"/>
                  </a:cubicBezTo>
                  <a:cubicBezTo>
                    <a:pt x="2122297" y="0"/>
                    <a:pt x="2734183" y="372873"/>
                    <a:pt x="2734183" y="832740"/>
                  </a:cubicBezTo>
                  <a:cubicBezTo>
                    <a:pt x="2734183" y="1292608"/>
                    <a:pt x="2122170" y="1665481"/>
                    <a:pt x="1367028" y="1665481"/>
                  </a:cubicBezTo>
                  <a:cubicBezTo>
                    <a:pt x="611886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734221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InVictus_165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AutoShape 18"/>
          <p:cNvSpPr/>
          <p:nvPr/>
        </p:nvSpPr>
        <p:spPr>
          <a:xfrm rot="8040">
            <a:off x="-21460" y="1704975"/>
            <a:ext cx="183309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839510" y="3215213"/>
            <a:ext cx="1357681" cy="1357681"/>
          </a:xfrm>
          <a:custGeom>
            <a:avLst/>
            <a:gdLst/>
            <a:ahLst/>
            <a:cxnLst/>
            <a:rect l="l" t="t" r="r" b="b"/>
            <a:pathLst>
              <a:path w="1357681" h="1357681">
                <a:moveTo>
                  <a:pt x="0" y="0"/>
                </a:moveTo>
                <a:lnTo>
                  <a:pt x="1357681" y="0"/>
                </a:lnTo>
                <a:lnTo>
                  <a:pt x="1357681" y="1357681"/>
                </a:lnTo>
                <a:lnTo>
                  <a:pt x="0" y="1357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478912" y="3156612"/>
            <a:ext cx="14847322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5"/>
              </a:lnSpc>
              <a:spcBef>
                <a:spcPct val="0"/>
              </a:spcBef>
            </a:pPr>
            <a:r>
              <a: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Sudden dam breaks or river blockages can release huge amounts of water, causing destructive flash floods. There is a need to simulate these events and quickly identify the areas that may be inundated, so that authorities can take effective disaster-management decisions.</a:t>
            </a:r>
          </a:p>
        </p:txBody>
      </p:sp>
      <p:sp>
        <p:nvSpPr>
          <p:cNvPr id="21" name="Freeform 21"/>
          <p:cNvSpPr/>
          <p:nvPr/>
        </p:nvSpPr>
        <p:spPr>
          <a:xfrm>
            <a:off x="839510" y="5319643"/>
            <a:ext cx="1639402" cy="1057414"/>
          </a:xfrm>
          <a:custGeom>
            <a:avLst/>
            <a:gdLst/>
            <a:ahLst/>
            <a:cxnLst/>
            <a:rect l="l" t="t" r="r" b="b"/>
            <a:pathLst>
              <a:path w="1639402" h="1057414">
                <a:moveTo>
                  <a:pt x="0" y="0"/>
                </a:moveTo>
                <a:lnTo>
                  <a:pt x="1639402" y="0"/>
                </a:lnTo>
                <a:lnTo>
                  <a:pt x="1639402" y="1057414"/>
                </a:lnTo>
                <a:lnTo>
                  <a:pt x="0" y="1057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684544" y="5286375"/>
            <a:ext cx="14762160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5"/>
              </a:lnSpc>
              <a:spcBef>
                <a:spcPct val="0"/>
              </a:spcBef>
            </a:pPr>
            <a:r>
              <a: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generalized flood simulation platform that predicts how water spreads after a dam break using SPH and Delft3D. It visualizes the predicted inundation on a GIS-based dashboard and provides GIS-ready outputs to support disaster-response planning.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5612" y="1878811"/>
            <a:ext cx="17201478" cy="569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Dam Break Inundation Modelling Using Hydrodynamic Modelling of any River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9510" y="2594637"/>
            <a:ext cx="199024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  <a:spcBef>
                <a:spcPct val="0"/>
              </a:spcBef>
            </a:pPr>
            <a:r>
              <a:rPr lang="en-US" sz="3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9510" y="4648200"/>
            <a:ext cx="207823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  <a:spcBef>
                <a:spcPct val="0"/>
              </a:spcBef>
            </a:pPr>
            <a:r>
              <a:rPr lang="en-US" sz="3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28700" y="6943725"/>
            <a:ext cx="7663555" cy="2149318"/>
            <a:chOff x="0" y="0"/>
            <a:chExt cx="10218074" cy="2865758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0218074" cy="2865758"/>
              <a:chOff x="0" y="0"/>
              <a:chExt cx="2018385" cy="5660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018385" cy="566076"/>
              </a:xfrm>
              <a:custGeom>
                <a:avLst/>
                <a:gdLst/>
                <a:ahLst/>
                <a:cxnLst/>
                <a:rect l="l" t="t" r="r" b="b"/>
                <a:pathLst>
                  <a:path w="2018385" h="566076">
                    <a:moveTo>
                      <a:pt x="51522" y="0"/>
                    </a:moveTo>
                    <a:lnTo>
                      <a:pt x="1966863" y="0"/>
                    </a:lnTo>
                    <a:cubicBezTo>
                      <a:pt x="1980528" y="0"/>
                      <a:pt x="1993633" y="5428"/>
                      <a:pt x="2003295" y="15090"/>
                    </a:cubicBezTo>
                    <a:cubicBezTo>
                      <a:pt x="2012957" y="24752"/>
                      <a:pt x="2018385" y="37857"/>
                      <a:pt x="2018385" y="51522"/>
                    </a:cubicBezTo>
                    <a:lnTo>
                      <a:pt x="2018385" y="514554"/>
                    </a:lnTo>
                    <a:cubicBezTo>
                      <a:pt x="2018385" y="528218"/>
                      <a:pt x="2012957" y="541323"/>
                      <a:pt x="2003295" y="550985"/>
                    </a:cubicBezTo>
                    <a:cubicBezTo>
                      <a:pt x="1993633" y="560647"/>
                      <a:pt x="1980528" y="566076"/>
                      <a:pt x="1966863" y="566076"/>
                    </a:cubicBezTo>
                    <a:lnTo>
                      <a:pt x="51522" y="566076"/>
                    </a:lnTo>
                    <a:cubicBezTo>
                      <a:pt x="37857" y="566076"/>
                      <a:pt x="24752" y="560647"/>
                      <a:pt x="15090" y="550985"/>
                    </a:cubicBezTo>
                    <a:cubicBezTo>
                      <a:pt x="5428" y="541323"/>
                      <a:pt x="0" y="528218"/>
                      <a:pt x="0" y="514554"/>
                    </a:cubicBezTo>
                    <a:lnTo>
                      <a:pt x="0" y="51522"/>
                    </a:lnTo>
                    <a:cubicBezTo>
                      <a:pt x="0" y="37857"/>
                      <a:pt x="5428" y="24752"/>
                      <a:pt x="15090" y="15090"/>
                    </a:cubicBezTo>
                    <a:cubicBezTo>
                      <a:pt x="24752" y="5428"/>
                      <a:pt x="37857" y="0"/>
                      <a:pt x="51522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19050"/>
                <a:ext cx="2018385" cy="5851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4309386" y="202412"/>
              <a:ext cx="1599302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0805" y="859637"/>
              <a:ext cx="8016464" cy="1695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5"/>
                </a:lnSpc>
                <a:spcBef>
                  <a:spcPct val="0"/>
                </a:spcBef>
              </a:pPr>
              <a:r>
                <a:rPr lang="en-US" sz="2796" u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Build a generalized platform to simulate dam-break floods and visualize the affected areas.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82103" y="6972775"/>
            <a:ext cx="7544131" cy="2149318"/>
            <a:chOff x="0" y="0"/>
            <a:chExt cx="10058841" cy="2865758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0058841" cy="2865758"/>
              <a:chOff x="0" y="0"/>
              <a:chExt cx="1986932" cy="56607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986932" cy="566076"/>
              </a:xfrm>
              <a:custGeom>
                <a:avLst/>
                <a:gdLst/>
                <a:ahLst/>
                <a:cxnLst/>
                <a:rect l="l" t="t" r="r" b="b"/>
                <a:pathLst>
                  <a:path w="1986932" h="566076">
                    <a:moveTo>
                      <a:pt x="52337" y="0"/>
                    </a:moveTo>
                    <a:lnTo>
                      <a:pt x="1934595" y="0"/>
                    </a:lnTo>
                    <a:cubicBezTo>
                      <a:pt x="1963500" y="0"/>
                      <a:pt x="1986932" y="23432"/>
                      <a:pt x="1986932" y="52337"/>
                    </a:cubicBezTo>
                    <a:lnTo>
                      <a:pt x="1986932" y="513739"/>
                    </a:lnTo>
                    <a:cubicBezTo>
                      <a:pt x="1986932" y="542644"/>
                      <a:pt x="1963500" y="566076"/>
                      <a:pt x="1934595" y="566076"/>
                    </a:cubicBezTo>
                    <a:lnTo>
                      <a:pt x="52337" y="566076"/>
                    </a:lnTo>
                    <a:cubicBezTo>
                      <a:pt x="23432" y="566076"/>
                      <a:pt x="0" y="542644"/>
                      <a:pt x="0" y="513739"/>
                    </a:cubicBezTo>
                    <a:lnTo>
                      <a:pt x="0" y="52337"/>
                    </a:lnTo>
                    <a:cubicBezTo>
                      <a:pt x="0" y="23432"/>
                      <a:pt x="23432" y="0"/>
                      <a:pt x="52337" y="0"/>
                    </a:cubicBezTo>
                    <a:close/>
                  </a:path>
                </a:pathLst>
              </a:custGeom>
              <a:solidFill>
                <a:srgbClr val="FFE7C2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19050"/>
                <a:ext cx="1986932" cy="5851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3159237" y="202412"/>
              <a:ext cx="3792581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INNOVATION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8541" y="859637"/>
              <a:ext cx="8781760" cy="1695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5"/>
                </a:lnSpc>
                <a:spcBef>
                  <a:spcPct val="0"/>
                </a:spcBef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Comb</a:t>
              </a:r>
              <a:r>
                <a:rPr lang="en-US" sz="2796" u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ine SPH + Delft3D + 3D GIS visualization + scenario comparison + SHP/KML outputs in one framework.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BAA93F06-A762-98FA-1D9E-31C5346E3E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9"/>
          <a:stretch>
            <a:fillRect/>
          </a:stretch>
        </p:blipFill>
        <p:spPr>
          <a:xfrm>
            <a:off x="152400" y="1333500"/>
            <a:ext cx="7281862" cy="55245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233B3BA-5026-03CC-2CD1-A39253C49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57497"/>
            <a:ext cx="10043931" cy="601144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94662" y="107366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InVictus_165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475612" y="274282"/>
            <a:ext cx="2050666" cy="1249101"/>
            <a:chOff x="0" y="0"/>
            <a:chExt cx="2734221" cy="1665468"/>
          </a:xfrm>
        </p:grpSpPr>
        <p:sp>
          <p:nvSpPr>
            <p:cNvPr id="18" name="Freeform 18" descr="Your startup LOGO"/>
            <p:cNvSpPr/>
            <p:nvPr/>
          </p:nvSpPr>
          <p:spPr>
            <a:xfrm>
              <a:off x="0" y="0"/>
              <a:ext cx="2734183" cy="1665481"/>
            </a:xfrm>
            <a:custGeom>
              <a:avLst/>
              <a:gdLst/>
              <a:ahLst/>
              <a:cxnLst/>
              <a:rect l="l" t="t" r="r" b="b"/>
              <a:pathLst>
                <a:path w="2734183" h="1665481">
                  <a:moveTo>
                    <a:pt x="0" y="832740"/>
                  </a:moveTo>
                  <a:cubicBezTo>
                    <a:pt x="0" y="372873"/>
                    <a:pt x="612013" y="0"/>
                    <a:pt x="1367155" y="0"/>
                  </a:cubicBezTo>
                  <a:cubicBezTo>
                    <a:pt x="2122297" y="0"/>
                    <a:pt x="2734183" y="372873"/>
                    <a:pt x="2734183" y="832740"/>
                  </a:cubicBezTo>
                  <a:cubicBezTo>
                    <a:pt x="2734183" y="1292608"/>
                    <a:pt x="2122170" y="1665481"/>
                    <a:pt x="1367028" y="1665481"/>
                  </a:cubicBezTo>
                  <a:cubicBezTo>
                    <a:pt x="611886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734221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InVictus_165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68165" y="6896100"/>
            <a:ext cx="6867352" cy="838200"/>
            <a:chOff x="0" y="0"/>
            <a:chExt cx="9337829" cy="1117600"/>
          </a:xfrm>
        </p:grpSpPr>
        <p:grpSp>
          <p:nvGrpSpPr>
            <p:cNvPr id="21" name="Group 21"/>
            <p:cNvGrpSpPr/>
            <p:nvPr/>
          </p:nvGrpSpPr>
          <p:grpSpPr>
            <a:xfrm>
              <a:off x="5223029" y="62558"/>
              <a:ext cx="4114800" cy="992483"/>
              <a:chOff x="0" y="0"/>
              <a:chExt cx="812800" cy="19604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1960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96046">
                    <a:moveTo>
                      <a:pt x="98023" y="0"/>
                    </a:moveTo>
                    <a:lnTo>
                      <a:pt x="714777" y="0"/>
                    </a:lnTo>
                    <a:cubicBezTo>
                      <a:pt x="768914" y="0"/>
                      <a:pt x="812800" y="43886"/>
                      <a:pt x="812800" y="98023"/>
                    </a:cubicBezTo>
                    <a:lnTo>
                      <a:pt x="812800" y="98023"/>
                    </a:lnTo>
                    <a:cubicBezTo>
                      <a:pt x="812800" y="152160"/>
                      <a:pt x="768914" y="196046"/>
                      <a:pt x="714777" y="196046"/>
                    </a:cubicBezTo>
                    <a:lnTo>
                      <a:pt x="98023" y="196046"/>
                    </a:lnTo>
                    <a:cubicBezTo>
                      <a:pt x="43886" y="196046"/>
                      <a:pt x="0" y="152160"/>
                      <a:pt x="0" y="98023"/>
                    </a:cubicBezTo>
                    <a:lnTo>
                      <a:pt x="0" y="98023"/>
                    </a:lnTo>
                    <a:cubicBezTo>
                      <a:pt x="0" y="43886"/>
                      <a:pt x="43886" y="0"/>
                      <a:pt x="980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19050"/>
                <a:ext cx="812800" cy="2150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223029" y="62558"/>
              <a:ext cx="1863094" cy="992483"/>
              <a:chOff x="0" y="0"/>
              <a:chExt cx="368019" cy="19604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68019" cy="196046"/>
              </a:xfrm>
              <a:custGeom>
                <a:avLst/>
                <a:gdLst/>
                <a:ahLst/>
                <a:cxnLst/>
                <a:rect l="l" t="t" r="r" b="b"/>
                <a:pathLst>
                  <a:path w="368019" h="196046">
                    <a:moveTo>
                      <a:pt x="98023" y="0"/>
                    </a:moveTo>
                    <a:lnTo>
                      <a:pt x="269996" y="0"/>
                    </a:lnTo>
                    <a:cubicBezTo>
                      <a:pt x="295993" y="0"/>
                      <a:pt x="320925" y="10327"/>
                      <a:pt x="339308" y="28710"/>
                    </a:cubicBezTo>
                    <a:cubicBezTo>
                      <a:pt x="357691" y="47093"/>
                      <a:pt x="368019" y="72026"/>
                      <a:pt x="368019" y="98023"/>
                    </a:cubicBezTo>
                    <a:lnTo>
                      <a:pt x="368019" y="98023"/>
                    </a:lnTo>
                    <a:cubicBezTo>
                      <a:pt x="368019" y="152160"/>
                      <a:pt x="324132" y="196046"/>
                      <a:pt x="269996" y="196046"/>
                    </a:cubicBezTo>
                    <a:lnTo>
                      <a:pt x="98023" y="196046"/>
                    </a:lnTo>
                    <a:cubicBezTo>
                      <a:pt x="43886" y="196046"/>
                      <a:pt x="0" y="152160"/>
                      <a:pt x="0" y="98023"/>
                    </a:cubicBezTo>
                    <a:lnTo>
                      <a:pt x="0" y="98023"/>
                    </a:lnTo>
                    <a:cubicBezTo>
                      <a:pt x="0" y="43886"/>
                      <a:pt x="43886" y="0"/>
                      <a:pt x="98023" y="0"/>
                    </a:cubicBezTo>
                    <a:close/>
                  </a:path>
                </a:pathLst>
              </a:custGeom>
              <a:solidFill>
                <a:srgbClr val="74CC00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368019" cy="2150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-19050"/>
              <a:ext cx="4834276" cy="1136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5"/>
                </a:lnSpc>
                <a:spcBef>
                  <a:spcPct val="0"/>
                </a:spcBef>
              </a:pPr>
              <a:r>
                <a:rPr lang="en-US" sz="2796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Completion Status </a:t>
              </a:r>
              <a:r>
                <a:rPr lang="en-US" sz="2796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45 %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475612" y="8238972"/>
            <a:ext cx="3625707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5"/>
              </a:lnSpc>
              <a:spcBef>
                <a:spcPct val="0"/>
              </a:spcBef>
            </a:pPr>
            <a:r>
              <a:rPr lang="en-US" sz="27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Link :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62447" y="7269906"/>
            <a:ext cx="3625707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5"/>
              </a:lnSpc>
              <a:spcBef>
                <a:spcPct val="0"/>
              </a:spcBef>
            </a:pPr>
            <a:r>
              <a:rPr lang="en-US" sz="279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Stack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4662" y="8902150"/>
            <a:ext cx="3625707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5"/>
              </a:lnSpc>
              <a:spcBef>
                <a:spcPct val="0"/>
              </a:spcBef>
            </a:pPr>
            <a:r>
              <a:rPr lang="en-US" sz="279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Video Link :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B718129-4651-7FE0-59FF-E35036BF9B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5" t="26812"/>
          <a:stretch>
            <a:fillRect/>
          </a:stretch>
        </p:blipFill>
        <p:spPr>
          <a:xfrm>
            <a:off x="7335516" y="7734300"/>
            <a:ext cx="10952483" cy="17121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submission-InVictus_165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597541" y="1939642"/>
            <a:ext cx="6899261" cy="3529931"/>
            <a:chOff x="0" y="0"/>
            <a:chExt cx="9199015" cy="470657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99015" cy="4706612"/>
            </a:xfrm>
            <a:custGeom>
              <a:avLst/>
              <a:gdLst/>
              <a:ahLst/>
              <a:cxnLst/>
              <a:rect l="l" t="t" r="r" b="b"/>
              <a:pathLst>
                <a:path w="9199015" h="4706612">
                  <a:moveTo>
                    <a:pt x="0" y="784478"/>
                  </a:moveTo>
                  <a:cubicBezTo>
                    <a:pt x="0" y="351154"/>
                    <a:pt x="297068" y="0"/>
                    <a:pt x="663649" y="0"/>
                  </a:cubicBezTo>
                  <a:lnTo>
                    <a:pt x="8535366" y="0"/>
                  </a:lnTo>
                  <a:cubicBezTo>
                    <a:pt x="8901840" y="0"/>
                    <a:pt x="9199015" y="351154"/>
                    <a:pt x="9199015" y="784478"/>
                  </a:cubicBezTo>
                  <a:lnTo>
                    <a:pt x="9199015" y="3922134"/>
                  </a:lnTo>
                  <a:cubicBezTo>
                    <a:pt x="9199015" y="4355331"/>
                    <a:pt x="8901947" y="4706612"/>
                    <a:pt x="8535366" y="4706612"/>
                  </a:cubicBezTo>
                  <a:lnTo>
                    <a:pt x="663649" y="4706612"/>
                  </a:lnTo>
                  <a:cubicBezTo>
                    <a:pt x="297068" y="4706612"/>
                    <a:pt x="0" y="4355331"/>
                    <a:pt x="0" y="3922134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199015" cy="4725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479"/>
                </a:lnSpc>
              </a:pPr>
              <a:r>
                <a:rPr lang="en-US" sz="2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of the Idea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Uses proven technologies like SPH, Delft3D, DEM and GIS.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Open-source tools and free data help reduce cost.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system can be used for different dams and rivers.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252840" y="1939642"/>
            <a:ext cx="6437619" cy="3529930"/>
            <a:chOff x="0" y="0"/>
            <a:chExt cx="8583492" cy="470657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583505" cy="4706624"/>
            </a:xfrm>
            <a:custGeom>
              <a:avLst/>
              <a:gdLst/>
              <a:ahLst/>
              <a:cxnLst/>
              <a:rect l="l" t="t" r="r" b="b"/>
              <a:pathLst>
                <a:path w="8583505" h="4706624">
                  <a:moveTo>
                    <a:pt x="0" y="784480"/>
                  </a:moveTo>
                  <a:cubicBezTo>
                    <a:pt x="0" y="351155"/>
                    <a:pt x="277120" y="0"/>
                    <a:pt x="619085" y="0"/>
                  </a:cubicBezTo>
                  <a:lnTo>
                    <a:pt x="7964417" y="0"/>
                  </a:lnTo>
                  <a:cubicBezTo>
                    <a:pt x="8306281" y="0"/>
                    <a:pt x="8583505" y="351155"/>
                    <a:pt x="8583505" y="784480"/>
                  </a:cubicBezTo>
                  <a:lnTo>
                    <a:pt x="8583505" y="3922145"/>
                  </a:lnTo>
                  <a:cubicBezTo>
                    <a:pt x="8583505" y="4355342"/>
                    <a:pt x="8306381" y="4706624"/>
                    <a:pt x="7964417" y="4706624"/>
                  </a:cubicBezTo>
                  <a:lnTo>
                    <a:pt x="619085" y="4706624"/>
                  </a:lnTo>
                  <a:cubicBezTo>
                    <a:pt x="277120" y="4706625"/>
                    <a:pt x="0" y="4355342"/>
                    <a:pt x="0" y="3922145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8583492" cy="4725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479"/>
                </a:lnSpc>
              </a:pPr>
              <a:r>
                <a:rPr lang="en-US" sz="2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Viability of the Idea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Provides flood maps and risk information for disaster management.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SHP/KML outputs can be used in GIS software.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system can be reused in different regions with new data.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7541" y="5888673"/>
            <a:ext cx="6899261" cy="3440451"/>
            <a:chOff x="0" y="0"/>
            <a:chExt cx="9199015" cy="45872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99015" cy="4587305"/>
            </a:xfrm>
            <a:custGeom>
              <a:avLst/>
              <a:gdLst/>
              <a:ahLst/>
              <a:cxnLst/>
              <a:rect l="l" t="t" r="r" b="b"/>
              <a:pathLst>
                <a:path w="9199015" h="4587305">
                  <a:moveTo>
                    <a:pt x="0" y="764592"/>
                  </a:moveTo>
                  <a:cubicBezTo>
                    <a:pt x="0" y="342253"/>
                    <a:pt x="297068" y="0"/>
                    <a:pt x="663649" y="0"/>
                  </a:cubicBezTo>
                  <a:lnTo>
                    <a:pt x="8535366" y="0"/>
                  </a:lnTo>
                  <a:cubicBezTo>
                    <a:pt x="8901840" y="0"/>
                    <a:pt x="9199015" y="342253"/>
                    <a:pt x="9199015" y="764592"/>
                  </a:cubicBezTo>
                  <a:lnTo>
                    <a:pt x="9199015" y="3822712"/>
                  </a:lnTo>
                  <a:cubicBezTo>
                    <a:pt x="9199015" y="4244928"/>
                    <a:pt x="8901947" y="4587305"/>
                    <a:pt x="8535366" y="4587305"/>
                  </a:cubicBezTo>
                  <a:lnTo>
                    <a:pt x="663649" y="4587305"/>
                  </a:lnTo>
                  <a:cubicBezTo>
                    <a:pt x="297068" y="4587306"/>
                    <a:pt x="0" y="4244928"/>
                    <a:pt x="0" y="3822712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88022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9199015" cy="4606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479"/>
                </a:lnSpc>
              </a:pPr>
              <a:r>
                <a:rPr lang="en-US" sz="2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Potential Challenges &amp; Risks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Required data may not always be available or accurate.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Simulations may need high computing power and time.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Results may differ from real floods due to uncertain conditions.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252840" y="5831316"/>
            <a:ext cx="6373368" cy="3508566"/>
            <a:chOff x="0" y="0"/>
            <a:chExt cx="8497824" cy="46780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497836" cy="4678050"/>
            </a:xfrm>
            <a:custGeom>
              <a:avLst/>
              <a:gdLst/>
              <a:ahLst/>
              <a:cxnLst/>
              <a:rect l="l" t="t" r="r" b="b"/>
              <a:pathLst>
                <a:path w="8497836" h="4678050">
                  <a:moveTo>
                    <a:pt x="0" y="779654"/>
                  </a:moveTo>
                  <a:cubicBezTo>
                    <a:pt x="0" y="349123"/>
                    <a:pt x="272767" y="0"/>
                    <a:pt x="609136" y="0"/>
                  </a:cubicBezTo>
                  <a:lnTo>
                    <a:pt x="7888698" y="0"/>
                  </a:lnTo>
                  <a:cubicBezTo>
                    <a:pt x="8225166" y="0"/>
                    <a:pt x="8497836" y="349123"/>
                    <a:pt x="8497836" y="779654"/>
                  </a:cubicBezTo>
                  <a:lnTo>
                    <a:pt x="8497836" y="3898396"/>
                  </a:lnTo>
                  <a:cubicBezTo>
                    <a:pt x="8497836" y="4329054"/>
                    <a:pt x="8225068" y="4678050"/>
                    <a:pt x="7888698" y="4678050"/>
                  </a:cubicBezTo>
                  <a:lnTo>
                    <a:pt x="609136" y="4678050"/>
                  </a:lnTo>
                  <a:cubicBezTo>
                    <a:pt x="272767" y="4678050"/>
                    <a:pt x="0" y="4329054"/>
                    <a:pt x="0" y="3898396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9BBB59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8497824" cy="469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479"/>
                </a:lnSpc>
              </a:pPr>
              <a:r>
                <a:rPr lang="en-US" sz="2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Strategies to Overcome Challenges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 multiple data sources and check the data before simulation.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 GPU and optimized settings to speed up simulations.</a:t>
              </a:r>
            </a:p>
            <a:p>
              <a:pPr marL="582930" lvl="1" indent="-291465" algn="just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Compare results with past flood events and satellite data and improve the model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5612" y="274282"/>
            <a:ext cx="2050666" cy="1249101"/>
            <a:chOff x="0" y="0"/>
            <a:chExt cx="2734221" cy="1665468"/>
          </a:xfrm>
        </p:grpSpPr>
        <p:sp>
          <p:nvSpPr>
            <p:cNvPr id="28" name="Freeform 28" descr="Your startup LOGO"/>
            <p:cNvSpPr/>
            <p:nvPr/>
          </p:nvSpPr>
          <p:spPr>
            <a:xfrm>
              <a:off x="0" y="0"/>
              <a:ext cx="2734183" cy="1665481"/>
            </a:xfrm>
            <a:custGeom>
              <a:avLst/>
              <a:gdLst/>
              <a:ahLst/>
              <a:cxnLst/>
              <a:rect l="l" t="t" r="r" b="b"/>
              <a:pathLst>
                <a:path w="2734183" h="1665481">
                  <a:moveTo>
                    <a:pt x="0" y="832740"/>
                  </a:moveTo>
                  <a:cubicBezTo>
                    <a:pt x="0" y="372873"/>
                    <a:pt x="612013" y="0"/>
                    <a:pt x="1367155" y="0"/>
                  </a:cubicBezTo>
                  <a:cubicBezTo>
                    <a:pt x="2122297" y="0"/>
                    <a:pt x="2734183" y="372873"/>
                    <a:pt x="2734183" y="832740"/>
                  </a:cubicBezTo>
                  <a:cubicBezTo>
                    <a:pt x="2734183" y="1292608"/>
                    <a:pt x="2122170" y="1665481"/>
                    <a:pt x="1367028" y="1665481"/>
                  </a:cubicBezTo>
                  <a:cubicBezTo>
                    <a:pt x="611886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2734221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InVictus_165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 rot="8040">
            <a:off x="-21460" y="1704975"/>
            <a:ext cx="183309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1" name="Group 31"/>
          <p:cNvGrpSpPr/>
          <p:nvPr/>
        </p:nvGrpSpPr>
        <p:grpSpPr>
          <a:xfrm>
            <a:off x="7640636" y="1939642"/>
            <a:ext cx="3469329" cy="7389481"/>
            <a:chOff x="0" y="0"/>
            <a:chExt cx="913765" cy="194607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13765" cy="1946076"/>
            </a:xfrm>
            <a:custGeom>
              <a:avLst/>
              <a:gdLst/>
              <a:ahLst/>
              <a:cxnLst/>
              <a:rect l="l" t="t" r="r" b="b"/>
              <a:pathLst>
                <a:path w="913765" h="1946076">
                  <a:moveTo>
                    <a:pt x="913765" y="104882"/>
                  </a:moveTo>
                  <a:lnTo>
                    <a:pt x="913765" y="1841194"/>
                  </a:lnTo>
                  <a:cubicBezTo>
                    <a:pt x="913765" y="1899119"/>
                    <a:pt x="866808" y="1946076"/>
                    <a:pt x="808883" y="1946076"/>
                  </a:cubicBezTo>
                  <a:lnTo>
                    <a:pt x="104882" y="1946076"/>
                  </a:lnTo>
                  <a:cubicBezTo>
                    <a:pt x="46957" y="1946076"/>
                    <a:pt x="0" y="1899119"/>
                    <a:pt x="0" y="1841194"/>
                  </a:cubicBezTo>
                  <a:lnTo>
                    <a:pt x="0" y="104882"/>
                  </a:lnTo>
                  <a:cubicBezTo>
                    <a:pt x="0" y="46957"/>
                    <a:pt x="46957" y="0"/>
                    <a:pt x="104882" y="0"/>
                  </a:cubicBezTo>
                  <a:lnTo>
                    <a:pt x="808883" y="0"/>
                  </a:lnTo>
                  <a:cubicBezTo>
                    <a:pt x="866808" y="0"/>
                    <a:pt x="913765" y="46957"/>
                    <a:pt x="913765" y="104882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E2A9F1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913765" cy="1965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9"/>
                </a:lnSpc>
                <a:spcBef>
                  <a:spcPct val="0"/>
                </a:spcBef>
              </a:pPr>
              <a:r>
                <a:rPr lang="en-US" sz="2899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SDG Goals</a:t>
              </a:r>
            </a:p>
            <a:p>
              <a:pPr marL="0" lvl="0" indent="0" algn="just">
                <a:lnSpc>
                  <a:spcPts val="3479"/>
                </a:lnSpc>
                <a:spcBef>
                  <a:spcPct val="0"/>
                </a:spcBef>
              </a:pPr>
              <a:endParaRPr lang="en-US" sz="2899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marL="0" lvl="0" indent="0" algn="just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SDG 11</a:t>
              </a:r>
              <a:r>
                <a:rPr lang="en-US" sz="2700" u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– Sustainable Cities and Communities</a:t>
              </a:r>
            </a:p>
            <a:p>
              <a:pPr marL="0" lvl="0" indent="0" algn="just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SDG 13 – </a:t>
              </a:r>
              <a:r>
                <a:rPr lang="en-US" sz="2700" u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Climate Action</a:t>
              </a:r>
            </a:p>
            <a:p>
              <a:pPr marL="0" lvl="0" indent="0" algn="just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SDG 6 – </a:t>
              </a:r>
              <a:r>
                <a:rPr lang="en-US" sz="2700" u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Clean Water and Sanitation</a:t>
              </a:r>
            </a:p>
            <a:p>
              <a:pPr marL="0" lvl="0" indent="0" algn="just">
                <a:lnSpc>
                  <a:spcPts val="3240"/>
                </a:lnSpc>
                <a:spcBef>
                  <a:spcPct val="0"/>
                </a:spcBef>
              </a:pPr>
              <a:r>
                <a:rPr lang="en-US" sz="2700" b="1" u="none" strike="noStrik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SDG 9 – </a:t>
              </a:r>
              <a:r>
                <a:rPr lang="en-US" sz="2700" u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Industry, Innovation and Infrastructure</a:t>
              </a:r>
            </a:p>
            <a:p>
              <a:pPr marL="0" lvl="0" indent="0" algn="just">
                <a:lnSpc>
                  <a:spcPts val="3240"/>
                </a:lnSpc>
                <a:spcBef>
                  <a:spcPct val="0"/>
                </a:spcBef>
              </a:pPr>
              <a:endParaRPr lang="en-US" sz="27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InVictus_165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75612" y="274282"/>
            <a:ext cx="2050666" cy="1249101"/>
            <a:chOff x="0" y="0"/>
            <a:chExt cx="2734221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734183" cy="1665481"/>
            </a:xfrm>
            <a:custGeom>
              <a:avLst/>
              <a:gdLst/>
              <a:ahLst/>
              <a:cxnLst/>
              <a:rect l="l" t="t" r="r" b="b"/>
              <a:pathLst>
                <a:path w="2734183" h="1665481">
                  <a:moveTo>
                    <a:pt x="0" y="832740"/>
                  </a:moveTo>
                  <a:cubicBezTo>
                    <a:pt x="0" y="372873"/>
                    <a:pt x="612013" y="0"/>
                    <a:pt x="1367155" y="0"/>
                  </a:cubicBezTo>
                  <a:cubicBezTo>
                    <a:pt x="2122297" y="0"/>
                    <a:pt x="2734183" y="372873"/>
                    <a:pt x="2734183" y="832740"/>
                  </a:cubicBezTo>
                  <a:cubicBezTo>
                    <a:pt x="2734183" y="1292608"/>
                    <a:pt x="2122170" y="1665481"/>
                    <a:pt x="1367028" y="1665481"/>
                  </a:cubicBezTo>
                  <a:cubicBezTo>
                    <a:pt x="611886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734221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InVictus_165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rot="8040">
            <a:off x="-21460" y="1704975"/>
            <a:ext cx="183309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2526278" y="2150134"/>
            <a:ext cx="16421559" cy="1690645"/>
            <a:chOff x="0" y="0"/>
            <a:chExt cx="21895411" cy="2254193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18993"/>
              <a:ext cx="20177690" cy="2004439"/>
              <a:chOff x="0" y="0"/>
              <a:chExt cx="3985717" cy="39593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985717" cy="395939"/>
              </a:xfrm>
              <a:custGeom>
                <a:avLst/>
                <a:gdLst/>
                <a:ahLst/>
                <a:cxnLst/>
                <a:rect l="l" t="t" r="r" b="b"/>
                <a:pathLst>
                  <a:path w="3985717" h="395939">
                    <a:moveTo>
                      <a:pt x="26091" y="0"/>
                    </a:moveTo>
                    <a:lnTo>
                      <a:pt x="3959626" y="0"/>
                    </a:lnTo>
                    <a:cubicBezTo>
                      <a:pt x="3966546" y="0"/>
                      <a:pt x="3973182" y="2749"/>
                      <a:pt x="3978075" y="7642"/>
                    </a:cubicBezTo>
                    <a:cubicBezTo>
                      <a:pt x="3982968" y="12535"/>
                      <a:pt x="3985717" y="19171"/>
                      <a:pt x="3985717" y="26091"/>
                    </a:cubicBezTo>
                    <a:lnTo>
                      <a:pt x="3985717" y="369848"/>
                    </a:lnTo>
                    <a:cubicBezTo>
                      <a:pt x="3985717" y="384257"/>
                      <a:pt x="3974036" y="395939"/>
                      <a:pt x="3959626" y="395939"/>
                    </a:cubicBezTo>
                    <a:lnTo>
                      <a:pt x="26091" y="395939"/>
                    </a:lnTo>
                    <a:cubicBezTo>
                      <a:pt x="19171" y="395939"/>
                      <a:pt x="12535" y="393190"/>
                      <a:pt x="7642" y="388297"/>
                    </a:cubicBezTo>
                    <a:cubicBezTo>
                      <a:pt x="2749" y="383404"/>
                      <a:pt x="0" y="376767"/>
                      <a:pt x="0" y="369848"/>
                    </a:cubicBezTo>
                    <a:lnTo>
                      <a:pt x="0" y="26091"/>
                    </a:lnTo>
                    <a:cubicBezTo>
                      <a:pt x="0" y="19171"/>
                      <a:pt x="2749" y="12535"/>
                      <a:pt x="7642" y="7642"/>
                    </a:cubicBezTo>
                    <a:cubicBezTo>
                      <a:pt x="12535" y="2749"/>
                      <a:pt x="19171" y="0"/>
                      <a:pt x="26091" y="0"/>
                    </a:cubicBezTo>
                    <a:close/>
                  </a:path>
                </a:pathLst>
              </a:custGeom>
              <a:solidFill>
                <a:srgbClr val="FBFCF9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19050"/>
                <a:ext cx="3985717" cy="4149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0"/>
              <a:ext cx="4284563" cy="2042424"/>
              <a:chOff x="0" y="0"/>
              <a:chExt cx="846334" cy="4034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46334" cy="403442"/>
              </a:xfrm>
              <a:custGeom>
                <a:avLst/>
                <a:gdLst/>
                <a:ahLst/>
                <a:cxnLst/>
                <a:rect l="l" t="t" r="r" b="b"/>
                <a:pathLst>
                  <a:path w="846334" h="403442">
                    <a:moveTo>
                      <a:pt x="122871" y="0"/>
                    </a:moveTo>
                    <a:lnTo>
                      <a:pt x="723462" y="0"/>
                    </a:lnTo>
                    <a:cubicBezTo>
                      <a:pt x="756050" y="0"/>
                      <a:pt x="787302" y="12945"/>
                      <a:pt x="810345" y="35988"/>
                    </a:cubicBezTo>
                    <a:cubicBezTo>
                      <a:pt x="833388" y="59031"/>
                      <a:pt x="846334" y="90284"/>
                      <a:pt x="846334" y="122871"/>
                    </a:cubicBezTo>
                    <a:lnTo>
                      <a:pt x="846334" y="280570"/>
                    </a:lnTo>
                    <a:cubicBezTo>
                      <a:pt x="846334" y="348430"/>
                      <a:pt x="791322" y="403442"/>
                      <a:pt x="723462" y="403442"/>
                    </a:cubicBezTo>
                    <a:lnTo>
                      <a:pt x="122871" y="403442"/>
                    </a:lnTo>
                    <a:cubicBezTo>
                      <a:pt x="55011" y="403442"/>
                      <a:pt x="0" y="348430"/>
                      <a:pt x="0" y="280570"/>
                    </a:cubicBezTo>
                    <a:lnTo>
                      <a:pt x="0" y="122871"/>
                    </a:lnTo>
                    <a:cubicBezTo>
                      <a:pt x="0" y="55011"/>
                      <a:pt x="55011" y="0"/>
                      <a:pt x="122871" y="0"/>
                    </a:cubicBezTo>
                    <a:close/>
                  </a:path>
                </a:pathLst>
              </a:custGeom>
              <a:solidFill>
                <a:srgbClr val="FF5757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846334" cy="4224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79"/>
                  </a:lnSpc>
                </a:pPr>
                <a:r>
                  <a:rPr lang="en-US" sz="2899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Direct Targeted Users / Beneficiaries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284563" y="-57"/>
              <a:ext cx="17610848" cy="2254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Disaster management authorities and government agencies</a:t>
              </a:r>
            </a:p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Dam and water resource departments</a:t>
              </a:r>
            </a:p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Local communities in flood-prone areas</a:t>
              </a:r>
            </a:p>
            <a:p>
              <a:pPr algn="just">
                <a:lnSpc>
                  <a:spcPts val="3355"/>
                </a:lnSpc>
                <a:spcBef>
                  <a:spcPct val="0"/>
                </a:spcBef>
              </a:pPr>
              <a:endPara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526278" y="4101813"/>
            <a:ext cx="16504318" cy="1489313"/>
            <a:chOff x="0" y="0"/>
            <a:chExt cx="22005757" cy="1985751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20309069" cy="1985751"/>
              <a:chOff x="0" y="0"/>
              <a:chExt cx="4011668" cy="39224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011668" cy="392247"/>
              </a:xfrm>
              <a:custGeom>
                <a:avLst/>
                <a:gdLst/>
                <a:ahLst/>
                <a:cxnLst/>
                <a:rect l="l" t="t" r="r" b="b"/>
                <a:pathLst>
                  <a:path w="4011668" h="392247">
                    <a:moveTo>
                      <a:pt x="25922" y="0"/>
                    </a:moveTo>
                    <a:lnTo>
                      <a:pt x="3985746" y="0"/>
                    </a:lnTo>
                    <a:cubicBezTo>
                      <a:pt x="3992621" y="0"/>
                      <a:pt x="3999214" y="2731"/>
                      <a:pt x="4004076" y="7592"/>
                    </a:cubicBezTo>
                    <a:cubicBezTo>
                      <a:pt x="4008937" y="12454"/>
                      <a:pt x="4011668" y="19047"/>
                      <a:pt x="4011668" y="25922"/>
                    </a:cubicBezTo>
                    <a:lnTo>
                      <a:pt x="4011668" y="366325"/>
                    </a:lnTo>
                    <a:cubicBezTo>
                      <a:pt x="4011668" y="373200"/>
                      <a:pt x="4008937" y="379793"/>
                      <a:pt x="4004076" y="384655"/>
                    </a:cubicBezTo>
                    <a:cubicBezTo>
                      <a:pt x="3999214" y="389516"/>
                      <a:pt x="3992621" y="392247"/>
                      <a:pt x="3985746" y="392247"/>
                    </a:cubicBezTo>
                    <a:lnTo>
                      <a:pt x="25922" y="392247"/>
                    </a:lnTo>
                    <a:cubicBezTo>
                      <a:pt x="19047" y="392247"/>
                      <a:pt x="12454" y="389516"/>
                      <a:pt x="7592" y="384655"/>
                    </a:cubicBezTo>
                    <a:cubicBezTo>
                      <a:pt x="2731" y="379793"/>
                      <a:pt x="0" y="373200"/>
                      <a:pt x="0" y="366325"/>
                    </a:cubicBezTo>
                    <a:lnTo>
                      <a:pt x="0" y="25922"/>
                    </a:lnTo>
                    <a:cubicBezTo>
                      <a:pt x="0" y="19047"/>
                      <a:pt x="2731" y="12454"/>
                      <a:pt x="7592" y="7592"/>
                    </a:cubicBezTo>
                    <a:cubicBezTo>
                      <a:pt x="12454" y="2731"/>
                      <a:pt x="19047" y="0"/>
                      <a:pt x="25922" y="0"/>
                    </a:cubicBezTo>
                    <a:close/>
                  </a:path>
                </a:pathLst>
              </a:custGeom>
              <a:solidFill>
                <a:srgbClr val="FBFCF9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4011668" cy="411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0"/>
              <a:ext cx="4280244" cy="1985751"/>
              <a:chOff x="0" y="0"/>
              <a:chExt cx="845480" cy="39224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45480" cy="392247"/>
              </a:xfrm>
              <a:custGeom>
                <a:avLst/>
                <a:gdLst/>
                <a:ahLst/>
                <a:cxnLst/>
                <a:rect l="l" t="t" r="r" b="b"/>
                <a:pathLst>
                  <a:path w="845480" h="392247">
                    <a:moveTo>
                      <a:pt x="122995" y="0"/>
                    </a:moveTo>
                    <a:lnTo>
                      <a:pt x="722485" y="0"/>
                    </a:lnTo>
                    <a:cubicBezTo>
                      <a:pt x="755105" y="0"/>
                      <a:pt x="786390" y="12958"/>
                      <a:pt x="809456" y="36025"/>
                    </a:cubicBezTo>
                    <a:cubicBezTo>
                      <a:pt x="832522" y="59091"/>
                      <a:pt x="845480" y="90375"/>
                      <a:pt x="845480" y="122995"/>
                    </a:cubicBezTo>
                    <a:lnTo>
                      <a:pt x="845480" y="269252"/>
                    </a:lnTo>
                    <a:cubicBezTo>
                      <a:pt x="845480" y="301872"/>
                      <a:pt x="832522" y="333156"/>
                      <a:pt x="809456" y="356223"/>
                    </a:cubicBezTo>
                    <a:cubicBezTo>
                      <a:pt x="786390" y="379289"/>
                      <a:pt x="755105" y="392247"/>
                      <a:pt x="722485" y="392247"/>
                    </a:cubicBezTo>
                    <a:lnTo>
                      <a:pt x="122995" y="392247"/>
                    </a:lnTo>
                    <a:cubicBezTo>
                      <a:pt x="90375" y="392247"/>
                      <a:pt x="59091" y="379289"/>
                      <a:pt x="36025" y="356223"/>
                    </a:cubicBezTo>
                    <a:cubicBezTo>
                      <a:pt x="12958" y="333156"/>
                      <a:pt x="0" y="301872"/>
                      <a:pt x="0" y="269252"/>
                    </a:cubicBezTo>
                    <a:lnTo>
                      <a:pt x="0" y="122995"/>
                    </a:lnTo>
                    <a:cubicBezTo>
                      <a:pt x="0" y="90375"/>
                      <a:pt x="12958" y="59091"/>
                      <a:pt x="36025" y="36025"/>
                    </a:cubicBezTo>
                    <a:cubicBezTo>
                      <a:pt x="59091" y="12958"/>
                      <a:pt x="90375" y="0"/>
                      <a:pt x="122995" y="0"/>
                    </a:cubicBezTo>
                    <a:close/>
                  </a:path>
                </a:pathLst>
              </a:custGeom>
              <a:solidFill>
                <a:srgbClr val="87AAD2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19050"/>
                <a:ext cx="845480" cy="411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79"/>
                  </a:lnSpc>
                </a:pPr>
                <a:r>
                  <a:rPr lang="en-US" sz="2899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Strategic Impact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4280244" y="135625"/>
              <a:ext cx="17725513" cy="1695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Enables faster flood risk assessment.</a:t>
              </a:r>
            </a:p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Improves evacuation and emergency planning.</a:t>
              </a:r>
            </a:p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Supports data-driven disaster response.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526278" y="5987564"/>
            <a:ext cx="16491170" cy="1816013"/>
            <a:chOff x="0" y="0"/>
            <a:chExt cx="21988226" cy="2421351"/>
          </a:xfrm>
        </p:grpSpPr>
        <p:grpSp>
          <p:nvGrpSpPr>
            <p:cNvPr id="36" name="Group 36"/>
            <p:cNvGrpSpPr/>
            <p:nvPr/>
          </p:nvGrpSpPr>
          <p:grpSpPr>
            <a:xfrm>
              <a:off x="25544" y="0"/>
              <a:ext cx="20292964" cy="1900589"/>
              <a:chOff x="0" y="0"/>
              <a:chExt cx="4008487" cy="3754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008487" cy="375425"/>
              </a:xfrm>
              <a:custGeom>
                <a:avLst/>
                <a:gdLst/>
                <a:ahLst/>
                <a:cxnLst/>
                <a:rect l="l" t="t" r="r" b="b"/>
                <a:pathLst>
                  <a:path w="4008487" h="375425">
                    <a:moveTo>
                      <a:pt x="25943" y="0"/>
                    </a:moveTo>
                    <a:lnTo>
                      <a:pt x="3982544" y="0"/>
                    </a:lnTo>
                    <a:cubicBezTo>
                      <a:pt x="3996872" y="0"/>
                      <a:pt x="4008487" y="11615"/>
                      <a:pt x="4008487" y="25943"/>
                    </a:cubicBezTo>
                    <a:lnTo>
                      <a:pt x="4008487" y="349482"/>
                    </a:lnTo>
                    <a:cubicBezTo>
                      <a:pt x="4008487" y="363810"/>
                      <a:pt x="3996872" y="375425"/>
                      <a:pt x="3982544" y="375425"/>
                    </a:cubicBezTo>
                    <a:lnTo>
                      <a:pt x="25943" y="375425"/>
                    </a:lnTo>
                    <a:cubicBezTo>
                      <a:pt x="11615" y="375425"/>
                      <a:pt x="0" y="363810"/>
                      <a:pt x="0" y="349482"/>
                    </a:cubicBezTo>
                    <a:lnTo>
                      <a:pt x="0" y="25943"/>
                    </a:lnTo>
                    <a:cubicBezTo>
                      <a:pt x="0" y="11615"/>
                      <a:pt x="11615" y="0"/>
                      <a:pt x="25943" y="0"/>
                    </a:cubicBezTo>
                    <a:close/>
                  </a:path>
                </a:pathLst>
              </a:custGeom>
              <a:solidFill>
                <a:srgbClr val="FBFCF9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19050"/>
                <a:ext cx="4008487" cy="394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0"/>
              <a:ext cx="4276769" cy="1900589"/>
              <a:chOff x="0" y="0"/>
              <a:chExt cx="844794" cy="3754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44794" cy="375425"/>
              </a:xfrm>
              <a:custGeom>
                <a:avLst/>
                <a:gdLst/>
                <a:ahLst/>
                <a:cxnLst/>
                <a:rect l="l" t="t" r="r" b="b"/>
                <a:pathLst>
                  <a:path w="844794" h="375425">
                    <a:moveTo>
                      <a:pt x="123095" y="0"/>
                    </a:moveTo>
                    <a:lnTo>
                      <a:pt x="721698" y="0"/>
                    </a:lnTo>
                    <a:cubicBezTo>
                      <a:pt x="754345" y="0"/>
                      <a:pt x="785655" y="12969"/>
                      <a:pt x="808740" y="36054"/>
                    </a:cubicBezTo>
                    <a:cubicBezTo>
                      <a:pt x="831825" y="59139"/>
                      <a:pt x="844794" y="90448"/>
                      <a:pt x="844794" y="123095"/>
                    </a:cubicBezTo>
                    <a:lnTo>
                      <a:pt x="844794" y="252330"/>
                    </a:lnTo>
                    <a:cubicBezTo>
                      <a:pt x="844794" y="320313"/>
                      <a:pt x="789682" y="375425"/>
                      <a:pt x="721698" y="375425"/>
                    </a:cubicBezTo>
                    <a:lnTo>
                      <a:pt x="123095" y="375425"/>
                    </a:lnTo>
                    <a:cubicBezTo>
                      <a:pt x="90448" y="375425"/>
                      <a:pt x="59139" y="362456"/>
                      <a:pt x="36054" y="339371"/>
                    </a:cubicBezTo>
                    <a:cubicBezTo>
                      <a:pt x="12969" y="316286"/>
                      <a:pt x="0" y="284977"/>
                      <a:pt x="0" y="252330"/>
                    </a:cubicBezTo>
                    <a:lnTo>
                      <a:pt x="0" y="123095"/>
                    </a:lnTo>
                    <a:cubicBezTo>
                      <a:pt x="0" y="90448"/>
                      <a:pt x="12969" y="59139"/>
                      <a:pt x="36054" y="36054"/>
                    </a:cubicBezTo>
                    <a:cubicBezTo>
                      <a:pt x="59139" y="12969"/>
                      <a:pt x="90448" y="0"/>
                      <a:pt x="123095" y="0"/>
                    </a:cubicBezTo>
                    <a:close/>
                  </a:path>
                </a:pathLst>
              </a:custGeom>
              <a:solidFill>
                <a:srgbClr val="F88022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19050"/>
                <a:ext cx="844794" cy="394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79"/>
                  </a:lnSpc>
                </a:pPr>
                <a:r>
                  <a:rPr lang="en-US" sz="2899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Strategic Benefit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4276769" y="167101"/>
              <a:ext cx="17711457" cy="2254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Provides clear flood inundation maps.</a:t>
              </a:r>
            </a:p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Helps identify high-risk areas.</a:t>
              </a:r>
            </a:p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Supports scenario-based planning for different dam-break conditions.</a:t>
              </a:r>
            </a:p>
            <a:p>
              <a:pPr algn="just">
                <a:lnSpc>
                  <a:spcPts val="3355"/>
                </a:lnSpc>
                <a:spcBef>
                  <a:spcPct val="0"/>
                </a:spcBef>
              </a:pPr>
              <a:endPara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526278" y="7803577"/>
            <a:ext cx="16668909" cy="1676400"/>
            <a:chOff x="0" y="0"/>
            <a:chExt cx="22225213" cy="22352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20455957" cy="1900589"/>
              <a:chOff x="0" y="0"/>
              <a:chExt cx="4040683" cy="3754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40683" cy="375425"/>
              </a:xfrm>
              <a:custGeom>
                <a:avLst/>
                <a:gdLst/>
                <a:ahLst/>
                <a:cxnLst/>
                <a:rect l="l" t="t" r="r" b="b"/>
                <a:pathLst>
                  <a:path w="4040683" h="375425">
                    <a:moveTo>
                      <a:pt x="25736" y="0"/>
                    </a:moveTo>
                    <a:lnTo>
                      <a:pt x="4014947" y="0"/>
                    </a:lnTo>
                    <a:cubicBezTo>
                      <a:pt x="4029161" y="0"/>
                      <a:pt x="4040683" y="11522"/>
                      <a:pt x="4040683" y="25736"/>
                    </a:cubicBezTo>
                    <a:lnTo>
                      <a:pt x="4040683" y="349689"/>
                    </a:lnTo>
                    <a:cubicBezTo>
                      <a:pt x="4040683" y="356515"/>
                      <a:pt x="4037971" y="363061"/>
                      <a:pt x="4033145" y="367887"/>
                    </a:cubicBezTo>
                    <a:cubicBezTo>
                      <a:pt x="4028318" y="372714"/>
                      <a:pt x="4021773" y="375425"/>
                      <a:pt x="4014947" y="375425"/>
                    </a:cubicBezTo>
                    <a:lnTo>
                      <a:pt x="25736" y="375425"/>
                    </a:lnTo>
                    <a:cubicBezTo>
                      <a:pt x="18910" y="375425"/>
                      <a:pt x="12364" y="372714"/>
                      <a:pt x="7538" y="367887"/>
                    </a:cubicBezTo>
                    <a:cubicBezTo>
                      <a:pt x="2711" y="363061"/>
                      <a:pt x="0" y="356515"/>
                      <a:pt x="0" y="349689"/>
                    </a:cubicBezTo>
                    <a:lnTo>
                      <a:pt x="0" y="25736"/>
                    </a:lnTo>
                    <a:cubicBezTo>
                      <a:pt x="0" y="18910"/>
                      <a:pt x="2711" y="12364"/>
                      <a:pt x="7538" y="7538"/>
                    </a:cubicBezTo>
                    <a:cubicBezTo>
                      <a:pt x="12364" y="2711"/>
                      <a:pt x="18910" y="0"/>
                      <a:pt x="25736" y="0"/>
                    </a:cubicBezTo>
                    <a:close/>
                  </a:path>
                </a:pathLst>
              </a:custGeom>
              <a:solidFill>
                <a:srgbClr val="FBFCF9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19050"/>
                <a:ext cx="4040683" cy="394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0" y="0"/>
              <a:ext cx="4371497" cy="1900589"/>
              <a:chOff x="0" y="0"/>
              <a:chExt cx="863505" cy="3754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63506" cy="375425"/>
              </a:xfrm>
              <a:custGeom>
                <a:avLst/>
                <a:gdLst/>
                <a:ahLst/>
                <a:cxnLst/>
                <a:rect l="l" t="t" r="r" b="b"/>
                <a:pathLst>
                  <a:path w="863506" h="375425">
                    <a:moveTo>
                      <a:pt x="120428" y="0"/>
                    </a:moveTo>
                    <a:lnTo>
                      <a:pt x="743078" y="0"/>
                    </a:lnTo>
                    <a:cubicBezTo>
                      <a:pt x="775017" y="0"/>
                      <a:pt x="805648" y="12688"/>
                      <a:pt x="828233" y="35273"/>
                    </a:cubicBezTo>
                    <a:cubicBezTo>
                      <a:pt x="850818" y="57857"/>
                      <a:pt x="863506" y="88489"/>
                      <a:pt x="863506" y="120428"/>
                    </a:cubicBezTo>
                    <a:lnTo>
                      <a:pt x="863506" y="254997"/>
                    </a:lnTo>
                    <a:cubicBezTo>
                      <a:pt x="863506" y="321508"/>
                      <a:pt x="809588" y="375425"/>
                      <a:pt x="743078" y="375425"/>
                    </a:cubicBezTo>
                    <a:lnTo>
                      <a:pt x="120428" y="375425"/>
                    </a:lnTo>
                    <a:cubicBezTo>
                      <a:pt x="88489" y="375425"/>
                      <a:pt x="57857" y="362737"/>
                      <a:pt x="35273" y="340152"/>
                    </a:cubicBezTo>
                    <a:cubicBezTo>
                      <a:pt x="12688" y="317568"/>
                      <a:pt x="0" y="286936"/>
                      <a:pt x="0" y="254997"/>
                    </a:cubicBezTo>
                    <a:lnTo>
                      <a:pt x="0" y="120428"/>
                    </a:lnTo>
                    <a:cubicBezTo>
                      <a:pt x="0" y="88489"/>
                      <a:pt x="12688" y="57857"/>
                      <a:pt x="35273" y="35273"/>
                    </a:cubicBezTo>
                    <a:cubicBezTo>
                      <a:pt x="57857" y="12688"/>
                      <a:pt x="88489" y="0"/>
                      <a:pt x="120428" y="0"/>
                    </a:cubicBezTo>
                    <a:close/>
                  </a:path>
                </a:pathLst>
              </a:custGeom>
              <a:solidFill>
                <a:srgbClr val="15974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19050"/>
                <a:ext cx="863505" cy="394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79"/>
                  </a:lnSpc>
                </a:pPr>
                <a:r>
                  <a:rPr lang="en-US" sz="2899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Social and Economic Benefits</a:t>
                </a:r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4371497" y="-19050"/>
              <a:ext cx="17853716" cy="2254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Helps reduce loss of life and property.</a:t>
              </a:r>
            </a:p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Supports better allocation of rescue and relief resources.</a:t>
              </a:r>
            </a:p>
            <a:p>
              <a:pPr marL="603687" lvl="1" indent="-301844" algn="just">
                <a:lnSpc>
                  <a:spcPts val="3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Reduces potential economic losses from flood damage.</a:t>
              </a:r>
            </a:p>
            <a:p>
              <a:pPr algn="just">
                <a:lnSpc>
                  <a:spcPts val="3355"/>
                </a:lnSpc>
                <a:spcBef>
                  <a:spcPct val="0"/>
                </a:spcBef>
              </a:pPr>
              <a:endPara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1" name="Freeform 51"/>
          <p:cNvSpPr/>
          <p:nvPr/>
        </p:nvSpPr>
        <p:spPr>
          <a:xfrm>
            <a:off x="776312" y="1907386"/>
            <a:ext cx="1449265" cy="1656302"/>
          </a:xfrm>
          <a:custGeom>
            <a:avLst/>
            <a:gdLst/>
            <a:ahLst/>
            <a:cxnLst/>
            <a:rect l="l" t="t" r="r" b="b"/>
            <a:pathLst>
              <a:path w="1449265" h="1656302">
                <a:moveTo>
                  <a:pt x="0" y="0"/>
                </a:moveTo>
                <a:lnTo>
                  <a:pt x="1449265" y="0"/>
                </a:lnTo>
                <a:lnTo>
                  <a:pt x="1449265" y="1656302"/>
                </a:lnTo>
                <a:lnTo>
                  <a:pt x="0" y="1656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776312" y="4170170"/>
            <a:ext cx="1669875" cy="1352599"/>
          </a:xfrm>
          <a:custGeom>
            <a:avLst/>
            <a:gdLst/>
            <a:ahLst/>
            <a:cxnLst/>
            <a:rect l="l" t="t" r="r" b="b"/>
            <a:pathLst>
              <a:path w="1669875" h="1352599">
                <a:moveTo>
                  <a:pt x="0" y="0"/>
                </a:moveTo>
                <a:lnTo>
                  <a:pt x="1669876" y="0"/>
                </a:lnTo>
                <a:lnTo>
                  <a:pt x="1669876" y="1352599"/>
                </a:lnTo>
                <a:lnTo>
                  <a:pt x="0" y="13525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682883" y="7875775"/>
            <a:ext cx="1636124" cy="1382525"/>
          </a:xfrm>
          <a:custGeom>
            <a:avLst/>
            <a:gdLst/>
            <a:ahLst/>
            <a:cxnLst/>
            <a:rect l="l" t="t" r="r" b="b"/>
            <a:pathLst>
              <a:path w="1636124" h="1382525">
                <a:moveTo>
                  <a:pt x="0" y="0"/>
                </a:moveTo>
                <a:lnTo>
                  <a:pt x="1636124" y="0"/>
                </a:lnTo>
                <a:lnTo>
                  <a:pt x="1636124" y="1382525"/>
                </a:lnTo>
                <a:lnTo>
                  <a:pt x="0" y="1382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115414" y="6132369"/>
            <a:ext cx="771062" cy="1352740"/>
          </a:xfrm>
          <a:custGeom>
            <a:avLst/>
            <a:gdLst/>
            <a:ahLst/>
            <a:cxnLst/>
            <a:rect l="l" t="t" r="r" b="b"/>
            <a:pathLst>
              <a:path w="771062" h="1352740">
                <a:moveTo>
                  <a:pt x="0" y="0"/>
                </a:moveTo>
                <a:lnTo>
                  <a:pt x="771062" y="0"/>
                </a:lnTo>
                <a:lnTo>
                  <a:pt x="771062" y="1352740"/>
                </a:lnTo>
                <a:lnTo>
                  <a:pt x="0" y="1352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InVictus_165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333062" y="2014876"/>
            <a:ext cx="17621865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44316" lvl="1" algn="just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SWOT Satellite Observations of the Kakhovka Dam Break Flood &amp; Outburst Flood Models (April 2026)</a:t>
            </a:r>
          </a:p>
          <a:p>
            <a:pPr marL="244316" lvl="1" algn="just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recent research showing how </a:t>
            </a: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satellite observations can be used to validate and assess dam-break flood models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supports your satellite/GEE component. </a:t>
            </a:r>
            <a:endParaRPr lang="en-US" sz="270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marL="244316" lvl="1" algn="just">
              <a:lnSpc>
                <a:spcPts val="3240"/>
              </a:lnSpc>
            </a:pPr>
            <a:r>
              <a:rPr lang="en-US" sz="2700" u="sng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agupubs.onlinelibrary.wiley.com/doi/10.1029/2025GL120832?utm_source=chatgpt.com"/>
              </a:rPr>
              <a:t>Research Paper – Geophysical Research Letters</a:t>
            </a:r>
          </a:p>
          <a:p>
            <a:pPr marL="244316" lvl="1" algn="just">
              <a:lnSpc>
                <a:spcPts val="3240"/>
              </a:lnSpc>
            </a:pPr>
            <a:endParaRPr lang="en-US" sz="2700" u="sng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  <a:hlinkClick r:id="rId5" tooltip="https://agupubs.onlinelibrary.wiley.com/doi/10.1029/2025GL120832?utm_source=chatgpt.com"/>
            </a:endParaRPr>
          </a:p>
          <a:p>
            <a:pPr marL="244316" lvl="1" algn="just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Hydrodynamic modeling of dam breach floods using satellite data, UAVs &amp; Google Earth Engine (August 2024)</a:t>
            </a:r>
          </a:p>
          <a:p>
            <a:pPr marL="244316" lvl="1" algn="just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Directly relevant to your use of </a:t>
            </a: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 + satellite data + GEE + hydrodynamic modelling + inundation maps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marL="244316" lvl="1" algn="just">
              <a:lnSpc>
                <a:spcPts val="3240"/>
              </a:lnSpc>
            </a:pPr>
            <a:r>
              <a:rPr lang="en-US" sz="2700" u="sng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link.springer.com/article/10.1007/s13201-024-02253-9?utm_source=chatgpt.com"/>
              </a:rPr>
              <a:t>Research Paper – Springer</a:t>
            </a:r>
          </a:p>
          <a:p>
            <a:pPr marL="244316" lvl="1" algn="just">
              <a:lnSpc>
                <a:spcPts val="3240"/>
              </a:lnSpc>
            </a:pPr>
            <a:endParaRPr lang="en-US" sz="2700" u="sng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  <a:hlinkClick r:id="rId6" tooltip="https://link.springer.com/article/10.1007/s13201-024-02253-9?utm_source=chatgpt.com"/>
            </a:endParaRPr>
          </a:p>
          <a:p>
            <a:pPr marL="244316" lvl="1" algn="just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Smoothed Particle Hydrodynamics Approach for One-Dimensional Dam Break Flow Simulation (August 2024)</a:t>
            </a:r>
          </a:p>
          <a:p>
            <a:pPr marL="244316" lvl="1" algn="just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Useful as a reference for the </a:t>
            </a: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SPH methodology for dam-break flow simulation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marL="244316" lvl="1" algn="just">
              <a:lnSpc>
                <a:spcPts val="3240"/>
              </a:lnSpc>
            </a:pPr>
            <a:r>
              <a:rPr lang="en-US" sz="2700" u="sng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tooltip="https://doi.org/10.56578/jche020401?utm_source=chatgpt.com"/>
              </a:rPr>
              <a:t>Research Paper – Journal of Civil and Hydraulic Engineering</a:t>
            </a:r>
          </a:p>
          <a:p>
            <a:pPr marL="244316" lvl="1" algn="just">
              <a:lnSpc>
                <a:spcPts val="3240"/>
              </a:lnSpc>
            </a:pPr>
            <a:endParaRPr lang="en-US" sz="2700" u="sng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  <a:hlinkClick r:id="rId6" tooltip="https://link.springer.com/article/10.1007/s13201-024-02253-9?utm_source=chatgpt.com"/>
            </a:endParaRPr>
          </a:p>
          <a:p>
            <a:pPr marL="244316" lvl="1" algn="just">
              <a:lnSpc>
                <a:spcPts val="324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Investigating Sediment Load by Dam-Break Floods Using a Meshless Two-Phase SPH Model (July 2024)</a:t>
            </a:r>
          </a:p>
          <a:p>
            <a:pPr marL="244316" lvl="1" algn="just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to your proposed </a:t>
            </a:r>
            <a:r>
              <a:rPr lang="en-US" sz="27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SPH-based dam-break simulation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particularly for complex flood and sediment </a:t>
            </a:r>
            <a:r>
              <a:rPr lang="en-US" sz="27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behaviour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marL="244316" lvl="1" algn="just">
              <a:lnSpc>
                <a:spcPts val="3240"/>
              </a:lnSpc>
            </a:pPr>
            <a:r>
              <a:rPr lang="en-US" sz="2700" u="sng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 tooltip="https://agupubs.onlinelibrary.wiley.com/doi/full/10.1029/2023WR035399?utm_source=chatgpt.com"/>
              </a:rPr>
              <a:t>Research Paper – Wiley</a:t>
            </a:r>
          </a:p>
          <a:p>
            <a:pPr marL="244316" lvl="1" algn="just">
              <a:lnSpc>
                <a:spcPts val="3240"/>
              </a:lnSpc>
            </a:pPr>
            <a:endParaRPr lang="en-US" sz="2700" u="sng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  <a:hlinkClick r:id="rId8" tooltip="https://agupubs.onlinelibrary.wiley.com/doi/full/10.1029/2023WR035399?utm_source=chatgpt.com"/>
            </a:endParaRPr>
          </a:p>
          <a:p>
            <a:pPr marL="244316" lvl="1" algn="just">
              <a:lnSpc>
                <a:spcPts val="3240"/>
              </a:lnSpc>
            </a:pPr>
            <a:endParaRPr lang="en-US" sz="2700" u="sng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  <a:hlinkClick r:id="rId7" tooltip="https://doi.org/10.56578/jche020401?utm_source=chatgpt.com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475612" y="274282"/>
            <a:ext cx="2050666" cy="1249101"/>
            <a:chOff x="0" y="0"/>
            <a:chExt cx="2734221" cy="1665468"/>
          </a:xfrm>
        </p:grpSpPr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734183" cy="1665481"/>
            </a:xfrm>
            <a:custGeom>
              <a:avLst/>
              <a:gdLst/>
              <a:ahLst/>
              <a:cxnLst/>
              <a:rect l="l" t="t" r="r" b="b"/>
              <a:pathLst>
                <a:path w="2734183" h="1665481">
                  <a:moveTo>
                    <a:pt x="0" y="832740"/>
                  </a:moveTo>
                  <a:cubicBezTo>
                    <a:pt x="0" y="372873"/>
                    <a:pt x="612013" y="0"/>
                    <a:pt x="1367155" y="0"/>
                  </a:cubicBezTo>
                  <a:cubicBezTo>
                    <a:pt x="2122297" y="0"/>
                    <a:pt x="2734183" y="372873"/>
                    <a:pt x="2734183" y="832740"/>
                  </a:cubicBezTo>
                  <a:cubicBezTo>
                    <a:pt x="2734183" y="1292608"/>
                    <a:pt x="2122170" y="1665481"/>
                    <a:pt x="1367028" y="1665481"/>
                  </a:cubicBezTo>
                  <a:cubicBezTo>
                    <a:pt x="611886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734221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InVictus_165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 rot="8040">
            <a:off x="-21460" y="1704975"/>
            <a:ext cx="1833091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694</Words>
  <Application>Microsoft Office PowerPoint</Application>
  <PresentationFormat>Custom</PresentationFormat>
  <Paragraphs>110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Garamond Bold</vt:lpstr>
      <vt:lpstr>Arimo</vt:lpstr>
      <vt:lpstr>Times New Roman</vt:lpstr>
      <vt:lpstr>Arial</vt:lpstr>
      <vt:lpstr>Calibri (MS)</vt:lpstr>
      <vt:lpstr>Times New Roman Bold</vt:lpstr>
      <vt:lpstr>Calibri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monday_ppt_dam.pptx</dc:title>
  <cp:lastModifiedBy>Sathya R</cp:lastModifiedBy>
  <cp:revision>8</cp:revision>
  <dcterms:created xsi:type="dcterms:W3CDTF">2006-08-16T00:00:00Z</dcterms:created>
  <dcterms:modified xsi:type="dcterms:W3CDTF">2026-09-29T10:07:19Z</dcterms:modified>
  <dc:identifier>DAHWWy3SpxY</dc:identifier>
</cp:coreProperties>
</file>